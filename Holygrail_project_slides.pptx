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theFactory is the HolyGrail multi-agent software refinery. Frame the whole talk: most AI coding tools improvise as one agent in the cloud; this treats software-making as an orchestrated, verifiable, local 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Mainstream tools nail the first 80 percent but improvise as a single agent in the cloud with no record of how the code came to be. Walk the four limits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One-view snapshot. Read the figures left to right, then the one-line definition: a real multi-service control plane, not a single chatbot.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the audience came for. Walk each row: agents, dependencies, workspace, verification, traceability, scope. The dependencies and workspace rows are the least obvious differentiators — dwell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contrast. A chatbot guesses the whole job in one pass. theFactory routes a mission down a chain of command, each a specialist with its own persona, tools and standards.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operating doctrines that separate a factory from a prompt box. Lead with dependency absorption and isolated workspaces — those are the least obvious and the most distinctive.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 the abstraction in one real mission. A request enters; the PM turns it into requirements; the CEO delegates to Pod A's Python specialist; dependencies are absorbed; the build runs in a disposable workspace; runtime QC and audit verify it; a verified package plus evidence comes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control plane: a request enters the gateway, the orchestrator runs the mission and routes work over the protocol bus to the pods, then the audit worker verifies. A real data plane and observability stack sit underneath.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41 agents are a real org chart across four tiers. Each agent carries its own persona profile, recommended LLM, tools and standards alignment.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Smelt-Cycle: every mission walks seven phases, each emitting an event. By the end you have a full evidence chain from first request to closed artifact.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pods cover twenty routed languages. A static extraction engine — no LLM call — turns source into 232 concept patterns, each becoming a LogicNode with confidence and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Local-first is the headline differentiator for security-conscious users. It runs fully offline, no external platform dependency, secrets stay in your env and local vault.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trust layer is what vibe coding tools simply don't have. Nothing reaches complete without the audit worker confirming integrity; a traceability ledger records custody; quality gates run in 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theFactory is built like production software, not a demo. Observability, security and quality columns. These are table stakes it brings that prompt-to-app tools skip.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Honesty slide. A large implemented baseline exists, but the full PM-chat-to-delivery path is still being proven. Working now, in validation, and next — so the production-standards slide before this is read in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Close. theFactory treats AI coding as an industrial process: specialized, verifiable, and yours to run. Leave them with the github link.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334155">
                  <a:alpha val="13000"/>
                </a:srgbClr>
              </a:gs>
              <a:gs pos="100000">
                <a:srgbClr val="334155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14192250" y="2381250"/>
            <a:ext cx="5524500" cy="5524500"/>
          </a:xfrm>
          <a:prstGeom prst="ellipse">
            <a:avLst/>
          </a:prstGeom>
          <a:ln w="9525">
            <a:solidFill>
              <a:srgbClr val="8B5CF6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935200" y="3124200"/>
            <a:ext cx="4038600" cy="4038600"/>
          </a:xfrm>
          <a:prstGeom prst="ellipse">
            <a:avLst/>
          </a:prstGeom>
          <a:ln w="9525">
            <a:solidFill>
              <a:srgbClr val="8B5CF6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678150" y="3867150"/>
            <a:ext cx="2552700" cy="2552700"/>
          </a:xfrm>
          <a:prstGeom prst="ellipse">
            <a:avLst/>
          </a:prstGeom>
          <a:ln w="9525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363950" y="4552950"/>
            <a:ext cx="1181100" cy="1181100"/>
          </a:xfrm>
          <a:prstGeom prst="ellipse">
            <a:avLst/>
          </a:prstGeom>
          <a:ln w="9525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687800" y="4876800"/>
            <a:ext cx="533400" cy="533400"/>
          </a:xfrm>
          <a:prstGeom prst="ellipse">
            <a:avLst/>
          </a:prstGeom>
          <a:gradFill rotWithShape="1">
            <a:gsLst>
              <a:gs pos="0">
                <a:srgbClr val="8B5CF6">
                  <a:alpha val="100000"/>
                </a:srgbClr>
              </a:gs>
              <a:gs pos="7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8" name="Text 6"/>
          <p:cNvSpPr/>
          <p:nvPr/>
        </p:nvSpPr>
        <p:spPr>
          <a:xfrm>
            <a:off x="1066800" y="857250"/>
            <a:ext cx="1776984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504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HOLYGRAIL · MULTI-AGENT SOFTWARE REFINERY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6800" y="3623816"/>
            <a:ext cx="5119405" cy="1107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100" b="1" spc="-162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theFactory</a:t>
            </a:r>
            <a:endParaRPr lang="en-US" sz="8100" dirty="0"/>
          </a:p>
        </p:txBody>
      </p:sp>
      <p:sp>
        <p:nvSpPr>
          <p:cNvPr id="10" name="Shape 8"/>
          <p:cNvSpPr/>
          <p:nvPr/>
        </p:nvSpPr>
        <p:spPr>
          <a:xfrm>
            <a:off x="5949404" y="4338191"/>
            <a:ext cx="171450" cy="171450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266700" dist="50800" dir="16200000">
              <a:srgbClr val="8B5CF6">
                <a:alpha val="533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66800" y="4998393"/>
            <a:ext cx="11380470" cy="1664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3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software factory, not a code-completion tool — </a:t>
            </a:r>
            <a:pPr algn="l" indent="0" marL="0">
              <a:lnSpc>
                <a:spcPct val="134000"/>
              </a:lnSpc>
              <a:buNone/>
            </a:pPr>
            <a:r>
              <a:rPr lang="en-US" sz="31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task-activated agents </a:t>
            </a:r>
            <a:pPr algn="l" indent="0" marL="0">
              <a:lnSpc>
                <a:spcPct val="134000"/>
              </a:lnSpc>
              <a:buNone/>
            </a:pPr>
            <a:r>
              <a:rPr lang="en-US" sz="3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taking a mission from intake to verified, audited delivery, fully local-first.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1066800" y="9134475"/>
            <a:ext cx="512988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github.com/kherrera6219/theFactory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654980" y="9134475"/>
            <a:ext cx="392284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vs. mainstream vibe coding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E2012">
                  <a:alpha val="100000"/>
                </a:srgbClr>
              </a:gs>
              <a:gs pos="52000">
                <a:srgbClr val="2E2012">
                  <a:alpha val="0"/>
                </a:srgbClr>
              </a:gs>
            </a:gsLst>
            <a:path path="circle">
              <a:fillToRect l="0" t="100000" r="100000" b="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066800" y="857250"/>
            <a:ext cx="1776984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504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GAP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6800" y="1285875"/>
            <a:ext cx="17769840" cy="771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50" b="1" spc="-111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vibe coding stops</a:t>
            </a:r>
            <a:endParaRPr lang="en-US" sz="5550" dirty="0"/>
          </a:p>
        </p:txBody>
      </p:sp>
      <p:sp>
        <p:nvSpPr>
          <p:cNvPr id="5" name="Text 3"/>
          <p:cNvSpPr/>
          <p:nvPr/>
        </p:nvSpPr>
        <p:spPr>
          <a:xfrm>
            <a:off x="1066800" y="4483894"/>
            <a:ext cx="7733630" cy="2956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28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like Cursor, Lovable, v0 and Bolt are brilliant at the first 80% — describe an app, watch it appear. But they </a:t>
            </a:r>
            <a:pPr algn="l" indent="0" marL="0">
              <a:lnSpc>
                <a:spcPct val="134000"/>
              </a:lnSpc>
              <a:buNone/>
            </a:pPr>
            <a:r>
              <a:rPr lang="en-US" sz="28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improvise as one model, in the cloud, </a:t>
            </a:r>
            <a:pPr algn="l" indent="0" marL="0">
              <a:lnSpc>
                <a:spcPct val="134000"/>
              </a:lnSpc>
              <a:buNone/>
            </a:pPr>
            <a:r>
              <a:rPr lang="en-US" sz="28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no record of how the code came to be.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9337179" y="2457004"/>
            <a:ext cx="7884021" cy="857250"/>
          </a:xfrm>
          <a:prstGeom prst="roundRect">
            <a:avLst>
              <a:gd name="adj" fmla="val 15556"/>
            </a:avLst>
          </a:prstGeom>
          <a:solidFill>
            <a:srgbClr val="1A2436"/>
          </a:solidFill>
          <a:ln w="9525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32454" y="2737991"/>
            <a:ext cx="3506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135493" y="2714179"/>
            <a:ext cx="555127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generalist model doing every job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337179" y="3523804"/>
            <a:ext cx="7884021" cy="857250"/>
          </a:xfrm>
          <a:prstGeom prst="roundRect">
            <a:avLst>
              <a:gd name="adj" fmla="val 15556"/>
            </a:avLst>
          </a:prstGeom>
          <a:solidFill>
            <a:srgbClr val="1A2436"/>
          </a:solidFill>
          <a:ln w="9525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32454" y="3804791"/>
            <a:ext cx="3506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135493" y="3780979"/>
            <a:ext cx="531127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you can't audit or reproduce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337179" y="4590604"/>
            <a:ext cx="7884021" cy="857250"/>
          </a:xfrm>
          <a:prstGeom prst="roundRect">
            <a:avLst>
              <a:gd name="adj" fmla="val 15556"/>
            </a:avLst>
          </a:prstGeom>
          <a:solidFill>
            <a:srgbClr val="1A2436"/>
          </a:solidFill>
          <a:ln w="9525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32454" y="4871591"/>
            <a:ext cx="3506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135493" y="4847779"/>
            <a:ext cx="436797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verification before it ships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337179" y="5657404"/>
            <a:ext cx="7884021" cy="857250"/>
          </a:xfrm>
          <a:prstGeom prst="roundRect">
            <a:avLst>
              <a:gd name="adj" fmla="val 15556"/>
            </a:avLst>
          </a:prstGeom>
          <a:solidFill>
            <a:srgbClr val="1A2436"/>
          </a:solidFill>
          <a:ln w="9525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32454" y="5938391"/>
            <a:ext cx="3506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135493" y="5914579"/>
            <a:ext cx="645201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code and prompts leave your machine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F1640">
                  <a:alpha val="100000"/>
                </a:srgbClr>
              </a:gs>
              <a:gs pos="46000">
                <a:srgbClr val="1F1640">
                  <a:alpha val="0"/>
                </a:srgbClr>
              </a:gs>
            </a:gsLst>
            <a:path path="circle">
              <a:fillToRect l="100000" t="0" r="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066800" y="857250"/>
            <a:ext cx="1776984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504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6800" y="1285875"/>
            <a:ext cx="17769840" cy="771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50" b="1" spc="-111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theFactory in one view</a:t>
            </a:r>
            <a:endParaRPr lang="en-US" sz="5550" dirty="0"/>
          </a:p>
        </p:txBody>
      </p:sp>
      <p:sp>
        <p:nvSpPr>
          <p:cNvPr id="5" name="Shape 3"/>
          <p:cNvSpPr/>
          <p:nvPr/>
        </p:nvSpPr>
        <p:spPr>
          <a:xfrm>
            <a:off x="1066800" y="4685854"/>
            <a:ext cx="16154400" cy="9525"/>
          </a:xfrm>
          <a:prstGeom prst="rect">
            <a:avLst/>
          </a:prstGeom>
          <a:solidFill>
            <a:srgbClr val="334155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66800" y="2628454"/>
            <a:ext cx="16154400" cy="9525"/>
          </a:xfrm>
          <a:prstGeom prst="rect">
            <a:avLst/>
          </a:prstGeom>
          <a:solidFill>
            <a:srgbClr val="334155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288036" y="2637979"/>
            <a:ext cx="9525" cy="2047875"/>
          </a:xfrm>
          <a:prstGeom prst="rect">
            <a:avLst/>
          </a:prstGeom>
          <a:solidFill>
            <a:srgbClr val="334155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3076129"/>
            <a:ext cx="295662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1333500" y="3971479"/>
            <a:ext cx="29566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agents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518946" y="2637979"/>
            <a:ext cx="9525" cy="2047875"/>
          </a:xfrm>
          <a:prstGeom prst="rect">
            <a:avLst/>
          </a:prstGeom>
          <a:solidFill>
            <a:srgbClr val="334155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564261" y="3076129"/>
            <a:ext cx="2956783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4564261" y="3971479"/>
            <a:ext cx="295678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pods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749855" y="2637979"/>
            <a:ext cx="9525" cy="2047875"/>
          </a:xfrm>
          <a:prstGeom prst="rect">
            <a:avLst/>
          </a:prstGeom>
          <a:solidFill>
            <a:srgbClr val="334155">
              <a:alpha val="5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795171" y="3076129"/>
            <a:ext cx="2956783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7795171" y="3971479"/>
            <a:ext cx="295678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routed languages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3980765" y="2637979"/>
            <a:ext cx="9525" cy="2047875"/>
          </a:xfrm>
          <a:prstGeom prst="rect">
            <a:avLst/>
          </a:prstGeom>
          <a:solidFill>
            <a:srgbClr val="334155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1026080" y="3076129"/>
            <a:ext cx="2956783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11026080" y="3971479"/>
            <a:ext cx="295678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mission cycle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256990" y="3076129"/>
            <a:ext cx="2967261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5400" dirty="0"/>
          </a:p>
        </p:txBody>
      </p:sp>
      <p:sp>
        <p:nvSpPr>
          <p:cNvPr id="20" name="Text 18"/>
          <p:cNvSpPr/>
          <p:nvPr/>
        </p:nvSpPr>
        <p:spPr>
          <a:xfrm>
            <a:off x="14256990" y="3971479"/>
            <a:ext cx="296726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local-first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66800" y="5304979"/>
            <a:ext cx="12950190" cy="1492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28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multi-service control plane — gateway, orchestrator, protocol bus, pod workers — with multi-provider model routing across Gemini, OpenAI and Anthropic.</a:t>
            </a:r>
            <a:endParaRPr lang="en-US" sz="2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F1640">
                  <a:alpha val="100000"/>
                </a:srgbClr>
              </a:gs>
              <a:gs pos="52000">
                <a:srgbClr val="1F1640">
                  <a:alpha val="0"/>
                </a:srgbClr>
              </a:gs>
            </a:gsLst>
            <a:path path="circle">
              <a:fillToRect l="100000" t="50000" r="0" b="5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066800" y="857250"/>
            <a:ext cx="1776984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504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DIFFERENCE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6800" y="1285875"/>
            <a:ext cx="17769840" cy="771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50" b="1" spc="-111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theFactory vs. mainstream tools</a:t>
            </a:r>
            <a:endParaRPr lang="en-US" sz="5550" dirty="0"/>
          </a:p>
        </p:txBody>
      </p:sp>
      <p:sp>
        <p:nvSpPr>
          <p:cNvPr id="5" name="Shape 3"/>
          <p:cNvSpPr/>
          <p:nvPr/>
        </p:nvSpPr>
        <p:spPr>
          <a:xfrm>
            <a:off x="1066800" y="3436739"/>
            <a:ext cx="4615458" cy="9525"/>
          </a:xfrm>
          <a:prstGeom prst="rect">
            <a:avLst/>
          </a:prstGeom>
          <a:solidFill>
            <a:srgbClr val="334155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682258" y="3436739"/>
            <a:ext cx="5769471" cy="9525"/>
          </a:xfrm>
          <a:prstGeom prst="rect">
            <a:avLst/>
          </a:prstGeom>
          <a:solidFill>
            <a:srgbClr val="334155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948958" y="2609404"/>
            <a:ext cx="5409155" cy="693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MAINSTREAM VIBE CODING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451729" y="2437954"/>
            <a:ext cx="5769471" cy="1008311"/>
          </a:xfrm>
          <a:prstGeom prst="rect">
            <a:avLst/>
          </a:prstGeom>
          <a:solidFill>
            <a:srgbClr val="8B5CF6">
              <a:alpha val="6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451729" y="3436739"/>
            <a:ext cx="5769471" cy="9525"/>
          </a:xfrm>
          <a:prstGeom prst="rect">
            <a:avLst/>
          </a:prstGeom>
          <a:solidFill>
            <a:srgbClr val="334155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1718429" y="2609404"/>
            <a:ext cx="5409155" cy="693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THEFACTORY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66800" y="4435525"/>
            <a:ext cx="4615458" cy="9525"/>
          </a:xfrm>
          <a:prstGeom prst="rect">
            <a:avLst/>
          </a:prstGeom>
          <a:solidFill>
            <a:srgbClr val="334155">
              <a:alpha val="5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617714"/>
            <a:ext cx="4601522" cy="684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5682258" y="4435525"/>
            <a:ext cx="5769471" cy="9525"/>
          </a:xfrm>
          <a:prstGeom prst="rect">
            <a:avLst/>
          </a:prstGeom>
          <a:solidFill>
            <a:srgbClr val="334155">
              <a:alpha val="5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948958" y="3617714"/>
            <a:ext cx="5409155" cy="684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generalist model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11451729" y="3446264"/>
            <a:ext cx="5769471" cy="998786"/>
          </a:xfrm>
          <a:prstGeom prst="rect">
            <a:avLst/>
          </a:prstGeom>
          <a:solidFill>
            <a:srgbClr val="8B5CF6">
              <a:alpha val="6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451729" y="4435525"/>
            <a:ext cx="5769471" cy="9525"/>
          </a:xfrm>
          <a:prstGeom prst="rect">
            <a:avLst/>
          </a:prstGeom>
          <a:solidFill>
            <a:srgbClr val="334155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1718429" y="3617714"/>
            <a:ext cx="5409155" cy="684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task-activated specialists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1066800" y="5434310"/>
            <a:ext cx="4615458" cy="9525"/>
          </a:xfrm>
          <a:prstGeom prst="rect">
            <a:avLst/>
          </a:prstGeom>
          <a:solidFill>
            <a:srgbClr val="334155">
              <a:alpha val="5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4616500"/>
            <a:ext cx="4601522" cy="684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Dependencies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5682258" y="5434310"/>
            <a:ext cx="5769471" cy="9525"/>
          </a:xfrm>
          <a:prstGeom prst="rect">
            <a:avLst/>
          </a:prstGeom>
          <a:solidFill>
            <a:srgbClr val="334155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948958" y="4616500"/>
            <a:ext cx="5409155" cy="684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freely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11451729" y="4445050"/>
            <a:ext cx="5769471" cy="998786"/>
          </a:xfrm>
          <a:prstGeom prst="rect">
            <a:avLst/>
          </a:prstGeom>
          <a:solidFill>
            <a:srgbClr val="8B5CF6">
              <a:alpha val="6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451729" y="5434310"/>
            <a:ext cx="5769471" cy="9525"/>
          </a:xfrm>
          <a:prstGeom prst="rect">
            <a:avLst/>
          </a:prstGeom>
          <a:solidFill>
            <a:srgbClr val="334155">
              <a:alpha val="5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1718429" y="4616500"/>
            <a:ext cx="5409155" cy="684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Absorbed — the tree shrinks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1066800" y="6433096"/>
            <a:ext cx="4615458" cy="9525"/>
          </a:xfrm>
          <a:prstGeom prst="rect">
            <a:avLst/>
          </a:prstGeom>
          <a:solidFill>
            <a:srgbClr val="334155">
              <a:alpha val="5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143000" y="5615285"/>
            <a:ext cx="4601522" cy="684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5682258" y="6433096"/>
            <a:ext cx="5769471" cy="9525"/>
          </a:xfrm>
          <a:prstGeom prst="rect">
            <a:avLst/>
          </a:prstGeom>
          <a:solidFill>
            <a:srgbClr val="334155">
              <a:alpha val="5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948958" y="5615285"/>
            <a:ext cx="5409155" cy="684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Edits your machine directly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11451729" y="5443835"/>
            <a:ext cx="5769471" cy="998786"/>
          </a:xfrm>
          <a:prstGeom prst="rect">
            <a:avLst/>
          </a:prstGeom>
          <a:solidFill>
            <a:srgbClr val="8B5CF6">
              <a:alpha val="6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1451729" y="6433096"/>
            <a:ext cx="5769471" cy="9525"/>
          </a:xfrm>
          <a:prstGeom prst="rect">
            <a:avLst/>
          </a:prstGeom>
          <a:solidFill>
            <a:srgbClr val="334155">
              <a:alpha val="5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1718429" y="5615285"/>
            <a:ext cx="5409155" cy="684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Isolated, disposable sandbox</a:t>
            </a:r>
            <a:endParaRPr lang="en-US" sz="1875" dirty="0"/>
          </a:p>
        </p:txBody>
      </p:sp>
      <p:sp>
        <p:nvSpPr>
          <p:cNvPr id="32" name="Shape 30"/>
          <p:cNvSpPr/>
          <p:nvPr/>
        </p:nvSpPr>
        <p:spPr>
          <a:xfrm>
            <a:off x="1066800" y="7431881"/>
            <a:ext cx="4615458" cy="9525"/>
          </a:xfrm>
          <a:prstGeom prst="rect">
            <a:avLst/>
          </a:prstGeom>
          <a:solidFill>
            <a:srgbClr val="334155">
              <a:alpha val="5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143000" y="6614071"/>
            <a:ext cx="4601522" cy="684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1875" dirty="0"/>
          </a:p>
        </p:txBody>
      </p:sp>
      <p:sp>
        <p:nvSpPr>
          <p:cNvPr id="34" name="Shape 32"/>
          <p:cNvSpPr/>
          <p:nvPr/>
        </p:nvSpPr>
        <p:spPr>
          <a:xfrm>
            <a:off x="5682258" y="7431881"/>
            <a:ext cx="5769471" cy="9525"/>
          </a:xfrm>
          <a:prstGeom prst="rect">
            <a:avLst/>
          </a:prstGeom>
          <a:solidFill>
            <a:srgbClr val="334155">
              <a:alpha val="5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948958" y="6614071"/>
            <a:ext cx="5409155" cy="684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the LLM</a:t>
            </a:r>
            <a:endParaRPr lang="en-US" sz="1875" dirty="0"/>
          </a:p>
        </p:txBody>
      </p:sp>
      <p:sp>
        <p:nvSpPr>
          <p:cNvPr id="36" name="Shape 34"/>
          <p:cNvSpPr/>
          <p:nvPr/>
        </p:nvSpPr>
        <p:spPr>
          <a:xfrm>
            <a:off x="11451729" y="6442621"/>
            <a:ext cx="5769471" cy="998786"/>
          </a:xfrm>
          <a:prstGeom prst="rect">
            <a:avLst/>
          </a:prstGeom>
          <a:solidFill>
            <a:srgbClr val="8B5CF6">
              <a:alpha val="6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1451729" y="7431881"/>
            <a:ext cx="5769471" cy="9525"/>
          </a:xfrm>
          <a:prstGeom prst="rect">
            <a:avLst/>
          </a:prstGeom>
          <a:solidFill>
            <a:srgbClr val="334155">
              <a:alpha val="5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11718429" y="6614071"/>
            <a:ext cx="5409155" cy="684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+ runtime QC + audit gate</a:t>
            </a:r>
            <a:endParaRPr lang="en-US" sz="1875" dirty="0"/>
          </a:p>
        </p:txBody>
      </p:sp>
      <p:sp>
        <p:nvSpPr>
          <p:cNvPr id="39" name="Shape 37"/>
          <p:cNvSpPr/>
          <p:nvPr/>
        </p:nvSpPr>
        <p:spPr>
          <a:xfrm>
            <a:off x="1066800" y="8430816"/>
            <a:ext cx="4615458" cy="9525"/>
          </a:xfrm>
          <a:prstGeom prst="rect">
            <a:avLst/>
          </a:prstGeom>
          <a:solidFill>
            <a:srgbClr val="334155">
              <a:alpha val="5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1143000" y="7612856"/>
            <a:ext cx="4601522" cy="6846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</a:t>
            </a:r>
            <a:endParaRPr lang="en-US" sz="1875" dirty="0"/>
          </a:p>
        </p:txBody>
      </p:sp>
      <p:sp>
        <p:nvSpPr>
          <p:cNvPr id="41" name="Shape 39"/>
          <p:cNvSpPr/>
          <p:nvPr/>
        </p:nvSpPr>
        <p:spPr>
          <a:xfrm>
            <a:off x="5682258" y="8430816"/>
            <a:ext cx="5769471" cy="9525"/>
          </a:xfrm>
          <a:prstGeom prst="rect">
            <a:avLst/>
          </a:prstGeom>
          <a:solidFill>
            <a:srgbClr val="334155">
              <a:alpha val="5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5948958" y="7612856"/>
            <a:ext cx="5409155" cy="6846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1875" dirty="0"/>
          </a:p>
        </p:txBody>
      </p:sp>
      <p:sp>
        <p:nvSpPr>
          <p:cNvPr id="43" name="Shape 41"/>
          <p:cNvSpPr/>
          <p:nvPr/>
        </p:nvSpPr>
        <p:spPr>
          <a:xfrm>
            <a:off x="11451729" y="7441406"/>
            <a:ext cx="5769471" cy="998934"/>
          </a:xfrm>
          <a:prstGeom prst="rect">
            <a:avLst/>
          </a:prstGeom>
          <a:solidFill>
            <a:srgbClr val="8B5CF6">
              <a:alpha val="6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1451729" y="8430816"/>
            <a:ext cx="5769471" cy="9525"/>
          </a:xfrm>
          <a:prstGeom prst="rect">
            <a:avLst/>
          </a:prstGeom>
          <a:solidFill>
            <a:srgbClr val="334155">
              <a:alpha val="5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11718429" y="7612856"/>
            <a:ext cx="5409155" cy="6846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chain-of-custody evidence</a:t>
            </a:r>
            <a:endParaRPr lang="en-US" sz="1875" dirty="0"/>
          </a:p>
        </p:txBody>
      </p:sp>
      <p:sp>
        <p:nvSpPr>
          <p:cNvPr id="46" name="Text 44"/>
          <p:cNvSpPr/>
          <p:nvPr/>
        </p:nvSpPr>
        <p:spPr>
          <a:xfrm>
            <a:off x="1143000" y="8611791"/>
            <a:ext cx="4601522" cy="6846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875" dirty="0"/>
          </a:p>
        </p:txBody>
      </p:sp>
      <p:sp>
        <p:nvSpPr>
          <p:cNvPr id="47" name="Text 45"/>
          <p:cNvSpPr/>
          <p:nvPr/>
        </p:nvSpPr>
        <p:spPr>
          <a:xfrm>
            <a:off x="5948958" y="8611791"/>
            <a:ext cx="5409155" cy="6846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Prompt-to-preview</a:t>
            </a:r>
            <a:endParaRPr lang="en-US" sz="1875" dirty="0"/>
          </a:p>
        </p:txBody>
      </p:sp>
      <p:sp>
        <p:nvSpPr>
          <p:cNvPr id="48" name="Shape 46"/>
          <p:cNvSpPr/>
          <p:nvPr/>
        </p:nvSpPr>
        <p:spPr>
          <a:xfrm>
            <a:off x="11451729" y="8440341"/>
            <a:ext cx="5769471" cy="989409"/>
          </a:xfrm>
          <a:prstGeom prst="rect">
            <a:avLst/>
          </a:prstGeom>
          <a:solidFill>
            <a:srgbClr val="8B5CF6">
              <a:alpha val="6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11718429" y="8611791"/>
            <a:ext cx="5409155" cy="6846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→ architecture → tests</a:t>
            </a:r>
            <a:endParaRPr lang="en-US" sz="18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C2740">
                  <a:alpha val="100000"/>
                </a:srgbClr>
              </a:gs>
              <a:gs pos="55000">
                <a:srgbClr val="1C2740">
                  <a:alpha val="0"/>
                </a:srgbClr>
              </a:gs>
            </a:gsLst>
            <a:path path="circle">
              <a:fillToRect l="50000" t="100000" r="50000" b="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066800" y="857250"/>
            <a:ext cx="1776984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504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MODEL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6800" y="1285875"/>
            <a:ext cx="17769840" cy="771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50" b="1" spc="-111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refinery model</a:t>
            </a:r>
            <a:endParaRPr lang="en-US" sz="5550" dirty="0"/>
          </a:p>
        </p:txBody>
      </p:sp>
      <p:sp>
        <p:nvSpPr>
          <p:cNvPr id="5" name="Shape 3"/>
          <p:cNvSpPr/>
          <p:nvPr/>
        </p:nvSpPr>
        <p:spPr>
          <a:xfrm>
            <a:off x="1066800" y="2457004"/>
            <a:ext cx="7867650" cy="6972746"/>
          </a:xfrm>
          <a:prstGeom prst="roundRect">
            <a:avLst>
              <a:gd name="adj" fmla="val 2459"/>
            </a:avLst>
          </a:prstGeom>
          <a:solidFill>
            <a:srgbClr val="1A2436"/>
          </a:solidFill>
          <a:ln w="9525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90675" y="2980879"/>
            <a:ext cx="750189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VIBE CODING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90675" y="3542854"/>
            <a:ext cx="7024497" cy="1001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agent guesses at the whole job in a single pass.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590675" y="8610600"/>
            <a:ext cx="750189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→ code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353550" y="2457004"/>
            <a:ext cx="7867650" cy="6972746"/>
          </a:xfrm>
          <a:prstGeom prst="roundRect">
            <a:avLst>
              <a:gd name="adj" fmla="val 2459"/>
            </a:avLst>
          </a:prstGeom>
          <a:gradFill rotWithShape="1">
            <a:gsLst>
              <a:gs pos="0">
                <a:srgbClr val="241C3F">
                  <a:alpha val="100000"/>
                </a:srgbClr>
              </a:gs>
              <a:gs pos="100000">
                <a:srgbClr val="1A2436">
                  <a:alpha val="100000"/>
                </a:srgbClr>
              </a:gs>
            </a:gsLst>
            <a:lin ang="4200000" scaled="0"/>
          </a:gradFill>
          <a:ln w="9525">
            <a:solidFill>
              <a:srgbClr val="8B5CF6">
                <a:alpha val="33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7425" y="2980879"/>
            <a:ext cx="750189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THEFACTORY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877425" y="3542854"/>
            <a:ext cx="7024497" cy="1001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mission flows down a chain of command of specialists.</a:t>
            </a:r>
            <a:endParaRPr lang="en-US" sz="3300" dirty="0"/>
          </a:p>
        </p:txBody>
      </p:sp>
      <p:sp>
        <p:nvSpPr>
          <p:cNvPr id="12" name="Shape 10"/>
          <p:cNvSpPr/>
          <p:nvPr/>
        </p:nvSpPr>
        <p:spPr>
          <a:xfrm>
            <a:off x="9877425" y="8420100"/>
            <a:ext cx="598289" cy="485775"/>
          </a:xfrm>
          <a:prstGeom prst="roundRect">
            <a:avLst>
              <a:gd name="adj" fmla="val 15686"/>
            </a:avLst>
          </a:prstGeom>
          <a:solidFill>
            <a:srgbClr val="8B5CF6">
              <a:alpha val="12000"/>
            </a:srgbClr>
          </a:solidFill>
          <a:ln w="9525">
            <a:solidFill>
              <a:srgbClr val="8B5CF6">
                <a:alpha val="33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39350" y="8515350"/>
            <a:ext cx="3506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570964" y="8515350"/>
            <a:ext cx="2019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791974" y="8420100"/>
            <a:ext cx="735360" cy="485775"/>
          </a:xfrm>
          <a:prstGeom prst="roundRect">
            <a:avLst>
              <a:gd name="adj" fmla="val 15686"/>
            </a:avLst>
          </a:prstGeom>
          <a:solidFill>
            <a:srgbClr val="8B5CF6">
              <a:alpha val="12000"/>
            </a:srgbClr>
          </a:solidFill>
          <a:ln w="9525">
            <a:solidFill>
              <a:srgbClr val="8B5CF6">
                <a:alpha val="33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53899" y="8515350"/>
            <a:ext cx="4877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622584" y="8515350"/>
            <a:ext cx="2019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843593" y="8420100"/>
            <a:ext cx="1284089" cy="485775"/>
          </a:xfrm>
          <a:prstGeom prst="roundRect">
            <a:avLst>
              <a:gd name="adj" fmla="val 15686"/>
            </a:avLst>
          </a:prstGeom>
          <a:solidFill>
            <a:srgbClr val="8B5CF6">
              <a:alpha val="12000"/>
            </a:srgbClr>
          </a:solidFill>
          <a:ln w="9525">
            <a:solidFill>
              <a:srgbClr val="8B5CF6">
                <a:alpha val="33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005518" y="8515350"/>
            <a:ext cx="10364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 mgr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222932" y="8515350"/>
            <a:ext cx="2019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3443942" y="8420100"/>
            <a:ext cx="1695450" cy="485775"/>
          </a:xfrm>
          <a:prstGeom prst="roundRect">
            <a:avLst>
              <a:gd name="adj" fmla="val 15686"/>
            </a:avLst>
          </a:prstGeom>
          <a:solidFill>
            <a:srgbClr val="8B5CF6">
              <a:alpha val="12000"/>
            </a:srgbClr>
          </a:solidFill>
          <a:ln w="9525">
            <a:solidFill>
              <a:srgbClr val="8B5CF6">
                <a:alpha val="33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605867" y="8515350"/>
            <a:ext cx="14478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Specialist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234642" y="8515350"/>
            <a:ext cx="2019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5455652" y="8420100"/>
            <a:ext cx="1009650" cy="485775"/>
          </a:xfrm>
          <a:prstGeom prst="roundRect">
            <a:avLst>
              <a:gd name="adj" fmla="val 15686"/>
            </a:avLst>
          </a:prstGeom>
          <a:solidFill>
            <a:srgbClr val="F59E0B">
              <a:alpha val="12000"/>
            </a:srgbClr>
          </a:solidFill>
          <a:ln w="9525">
            <a:solidFill>
              <a:srgbClr val="F59E0B">
                <a:alpha val="33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617577" y="8515350"/>
            <a:ext cx="7620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41C3F">
                  <a:alpha val="100000"/>
                </a:srgbClr>
              </a:gs>
              <a:gs pos="46000">
                <a:srgbClr val="241C3F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066800" y="857250"/>
            <a:ext cx="1776984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504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OPERATING DOCTRINES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6800" y="1285875"/>
            <a:ext cx="17769840" cy="771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50" b="1" spc="-111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the factory runs by</a:t>
            </a:r>
            <a:endParaRPr lang="en-US" sz="5550" dirty="0"/>
          </a:p>
        </p:txBody>
      </p:sp>
      <p:sp>
        <p:nvSpPr>
          <p:cNvPr id="5" name="Shape 3"/>
          <p:cNvSpPr/>
          <p:nvPr/>
        </p:nvSpPr>
        <p:spPr>
          <a:xfrm>
            <a:off x="1066800" y="2476054"/>
            <a:ext cx="5245001" cy="3371999"/>
          </a:xfrm>
          <a:prstGeom prst="roundRect">
            <a:avLst>
              <a:gd name="adj" fmla="val 4520"/>
            </a:avLst>
          </a:prstGeom>
          <a:solidFill>
            <a:srgbClr val="1A2436"/>
          </a:solidFill>
          <a:ln w="9525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00175" y="2847529"/>
            <a:ext cx="503607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00175" y="3295204"/>
            <a:ext cx="503607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lifecycle, not prompts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400175" y="3771454"/>
            <a:ext cx="471559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Requirements, architecture, code, tests — not a single-prompt drop.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21351" y="2476054"/>
            <a:ext cx="5245150" cy="3371999"/>
          </a:xfrm>
          <a:prstGeom prst="roundRect">
            <a:avLst>
              <a:gd name="adj" fmla="val 4520"/>
            </a:avLst>
          </a:prstGeom>
          <a:solidFill>
            <a:srgbClr val="1A2436"/>
          </a:solidFill>
          <a:ln w="9525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4726" y="2847529"/>
            <a:ext cx="50362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4726" y="3295204"/>
            <a:ext cx="503624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are task-activated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6854726" y="3771454"/>
            <a:ext cx="471575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spin up for the job at hand, not a standing workforce.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976050" y="2476054"/>
            <a:ext cx="5245150" cy="3371999"/>
          </a:xfrm>
          <a:prstGeom prst="roundRect">
            <a:avLst>
              <a:gd name="adj" fmla="val 4520"/>
            </a:avLst>
          </a:prstGeom>
          <a:gradFill rotWithShape="1">
            <a:gsLst>
              <a:gs pos="0">
                <a:srgbClr val="2E2410">
                  <a:alpha val="100000"/>
                </a:srgbClr>
              </a:gs>
              <a:gs pos="100000">
                <a:srgbClr val="1A2436">
                  <a:alpha val="100000"/>
                </a:srgbClr>
              </a:gs>
            </a:gsLst>
            <a:lin ang="4200000" scaled="0"/>
          </a:gradFill>
          <a:ln w="9525">
            <a:solidFill>
              <a:srgbClr val="F59E0B">
                <a:alpha val="33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09425" y="2847529"/>
            <a:ext cx="50362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09425" y="3295204"/>
            <a:ext cx="503624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Dependencies are liabilities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2309425" y="3771454"/>
            <a:ext cx="471575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Absorb and shrink the dependency tree; add only what's proven necessary.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66800" y="6057602"/>
            <a:ext cx="5245001" cy="3372148"/>
          </a:xfrm>
          <a:prstGeom prst="roundRect">
            <a:avLst>
              <a:gd name="adj" fmla="val 4519"/>
            </a:avLst>
          </a:prstGeom>
          <a:solidFill>
            <a:srgbClr val="1A2436"/>
          </a:solidFill>
          <a:ln w="9525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00175" y="6429077"/>
            <a:ext cx="503607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00175" y="6876752"/>
            <a:ext cx="503607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workspaces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400175" y="7353002"/>
            <a:ext cx="471559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happens in a disposable sandbox; source is never touched directly.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521351" y="6057602"/>
            <a:ext cx="5245150" cy="3372148"/>
          </a:xfrm>
          <a:prstGeom prst="roundRect">
            <a:avLst>
              <a:gd name="adj" fmla="val 4519"/>
            </a:avLst>
          </a:prstGeom>
          <a:solidFill>
            <a:srgbClr val="1A2436"/>
          </a:solidFill>
          <a:ln w="9525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4726" y="6429077"/>
            <a:ext cx="50362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54726" y="6876752"/>
            <a:ext cx="503624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Verify, don't trust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6854726" y="7353002"/>
            <a:ext cx="471575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build is checked with tests and a runtime-QC pass.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1976050" y="6057602"/>
            <a:ext cx="5245150" cy="3372148"/>
          </a:xfrm>
          <a:prstGeom prst="roundRect">
            <a:avLst>
              <a:gd name="adj" fmla="val 4519"/>
            </a:avLst>
          </a:prstGeom>
          <a:solidFill>
            <a:srgbClr val="1A2436"/>
          </a:solidFill>
          <a:ln w="9525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309425" y="6429077"/>
            <a:ext cx="50362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309425" y="6876752"/>
            <a:ext cx="503624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or it didn't ship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12309425" y="7353002"/>
            <a:ext cx="471575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completed mission targets a full chain-of-custody audit trail.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41C3F">
                  <a:alpha val="100000"/>
                </a:srgbClr>
              </a:gs>
              <a:gs pos="46000">
                <a:srgbClr val="241C3F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066800" y="857250"/>
            <a:ext cx="1776984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504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6800" y="1285875"/>
            <a:ext cx="17769840" cy="771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50" b="1" spc="-111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mission, end to end</a:t>
            </a:r>
            <a:endParaRPr lang="en-US" sz="5550" dirty="0"/>
          </a:p>
        </p:txBody>
      </p:sp>
      <p:sp>
        <p:nvSpPr>
          <p:cNvPr id="5" name="Shape 3"/>
          <p:cNvSpPr/>
          <p:nvPr/>
        </p:nvSpPr>
        <p:spPr>
          <a:xfrm>
            <a:off x="1066800" y="2399854"/>
            <a:ext cx="16154400" cy="800100"/>
          </a:xfrm>
          <a:prstGeom prst="roundRect">
            <a:avLst>
              <a:gd name="adj" fmla="val 16667"/>
            </a:avLst>
          </a:prstGeom>
          <a:solidFill>
            <a:srgbClr val="1A2436"/>
          </a:solidFill>
          <a:ln w="9525">
            <a:solidFill>
              <a:srgbClr val="8B5CF6">
                <a:alpha val="33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81125" y="2652266"/>
            <a:ext cx="10364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550914" y="2637979"/>
            <a:ext cx="646429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“Modernize this Python service and add tests.”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066800" y="3447604"/>
            <a:ext cx="16154400" cy="2857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>
                  <a:alpha val="100000"/>
                </a:srgbClr>
              </a:gs>
              <a:gs pos="70000">
                <a:srgbClr val="F59E0B">
                  <a:alpha val="100000"/>
                </a:srgbClr>
              </a:gs>
              <a:gs pos="100000">
                <a:srgbClr val="34D399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9" name="Shape 7"/>
          <p:cNvSpPr/>
          <p:nvPr/>
        </p:nvSpPr>
        <p:spPr>
          <a:xfrm>
            <a:off x="1066800" y="3723829"/>
            <a:ext cx="2597051" cy="1495425"/>
          </a:xfrm>
          <a:prstGeom prst="roundRect">
            <a:avLst>
              <a:gd name="adj" fmla="val 7643"/>
            </a:avLst>
          </a:prstGeom>
          <a:solidFill>
            <a:srgbClr val="1A2436"/>
          </a:solidFill>
          <a:ln/>
        </p:spPr>
      </p:sp>
      <p:sp>
        <p:nvSpPr>
          <p:cNvPr id="10" name="Shape 8"/>
          <p:cNvSpPr/>
          <p:nvPr/>
        </p:nvSpPr>
        <p:spPr>
          <a:xfrm>
            <a:off x="1066800" y="5209729"/>
            <a:ext cx="2597051" cy="9525"/>
          </a:xfrm>
          <a:prstGeom prst="rect">
            <a:avLst/>
          </a:prstGeom>
          <a:solidFill>
            <a:srgbClr val="334155">
              <a:alpha val="5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66800" y="3723829"/>
            <a:ext cx="2597051" cy="28575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6800" y="3723829"/>
            <a:ext cx="9525" cy="1495425"/>
          </a:xfrm>
          <a:prstGeom prst="rect">
            <a:avLst/>
          </a:prstGeom>
          <a:solidFill>
            <a:srgbClr val="334155">
              <a:alpha val="5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654326" y="3723829"/>
            <a:ext cx="9525" cy="1495425"/>
          </a:xfrm>
          <a:prstGeom prst="rect">
            <a:avLst/>
          </a:prstGeom>
          <a:solidFill>
            <a:srgbClr val="334155">
              <a:alpha val="5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247775" y="3961954"/>
            <a:ext cx="245861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47775" y="4352479"/>
            <a:ext cx="245861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intake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247775" y="4723954"/>
            <a:ext cx="245861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778151" y="3723829"/>
            <a:ext cx="2597200" cy="1495425"/>
          </a:xfrm>
          <a:prstGeom prst="roundRect">
            <a:avLst>
              <a:gd name="adj" fmla="val 7643"/>
            </a:avLst>
          </a:prstGeom>
          <a:solidFill>
            <a:srgbClr val="1A2436"/>
          </a:solidFill>
          <a:ln/>
        </p:spPr>
      </p:sp>
      <p:sp>
        <p:nvSpPr>
          <p:cNvPr id="18" name="Shape 16"/>
          <p:cNvSpPr/>
          <p:nvPr/>
        </p:nvSpPr>
        <p:spPr>
          <a:xfrm>
            <a:off x="3778151" y="5209729"/>
            <a:ext cx="2597200" cy="9525"/>
          </a:xfrm>
          <a:prstGeom prst="rect">
            <a:avLst/>
          </a:prstGeom>
          <a:solidFill>
            <a:srgbClr val="334155">
              <a:alpha val="5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778151" y="3723829"/>
            <a:ext cx="2597200" cy="28575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Shape 18"/>
          <p:cNvSpPr/>
          <p:nvPr/>
        </p:nvSpPr>
        <p:spPr>
          <a:xfrm>
            <a:off x="3778151" y="3723829"/>
            <a:ext cx="9525" cy="1495425"/>
          </a:xfrm>
          <a:prstGeom prst="rect">
            <a:avLst/>
          </a:prstGeom>
          <a:solidFill>
            <a:srgbClr val="334155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365825" y="3723829"/>
            <a:ext cx="9525" cy="1495425"/>
          </a:xfrm>
          <a:prstGeom prst="rect">
            <a:avLst/>
          </a:prstGeom>
          <a:solidFill>
            <a:srgbClr val="334155">
              <a:alpha val="5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959126" y="3961954"/>
            <a:ext cx="24587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959126" y="4352479"/>
            <a:ext cx="24587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3959126" y="4723954"/>
            <a:ext cx="24587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Delegate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489650" y="3723829"/>
            <a:ext cx="2597051" cy="1495425"/>
          </a:xfrm>
          <a:prstGeom prst="roundRect">
            <a:avLst>
              <a:gd name="adj" fmla="val 7643"/>
            </a:avLst>
          </a:prstGeom>
          <a:solidFill>
            <a:srgbClr val="1A2436"/>
          </a:solidFill>
          <a:ln/>
        </p:spPr>
      </p:sp>
      <p:sp>
        <p:nvSpPr>
          <p:cNvPr id="26" name="Shape 24"/>
          <p:cNvSpPr/>
          <p:nvPr/>
        </p:nvSpPr>
        <p:spPr>
          <a:xfrm>
            <a:off x="6489650" y="5209729"/>
            <a:ext cx="2597051" cy="9525"/>
          </a:xfrm>
          <a:prstGeom prst="rect">
            <a:avLst/>
          </a:prstGeom>
          <a:solidFill>
            <a:srgbClr val="334155">
              <a:alpha val="5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489650" y="3723829"/>
            <a:ext cx="2597051" cy="28575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8" name="Shape 26"/>
          <p:cNvSpPr/>
          <p:nvPr/>
        </p:nvSpPr>
        <p:spPr>
          <a:xfrm>
            <a:off x="6489650" y="3723829"/>
            <a:ext cx="9525" cy="1495425"/>
          </a:xfrm>
          <a:prstGeom prst="rect">
            <a:avLst/>
          </a:prstGeom>
          <a:solidFill>
            <a:srgbClr val="334155">
              <a:alpha val="5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9077176" y="3723829"/>
            <a:ext cx="9525" cy="1495425"/>
          </a:xfrm>
          <a:prstGeom prst="rect">
            <a:avLst/>
          </a:prstGeom>
          <a:solidFill>
            <a:srgbClr val="334155">
              <a:alpha val="5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670625" y="3961954"/>
            <a:ext cx="245861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670625" y="4352479"/>
            <a:ext cx="245861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A · Python</a:t>
            </a:r>
            <a:endParaRPr lang="en-US" sz="1875" dirty="0"/>
          </a:p>
        </p:txBody>
      </p:sp>
      <p:sp>
        <p:nvSpPr>
          <p:cNvPr id="32" name="Text 30"/>
          <p:cNvSpPr/>
          <p:nvPr/>
        </p:nvSpPr>
        <p:spPr>
          <a:xfrm>
            <a:off x="6670625" y="4723954"/>
            <a:ext cx="245861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201001" y="3723829"/>
            <a:ext cx="2597200" cy="1495425"/>
          </a:xfrm>
          <a:prstGeom prst="roundRect">
            <a:avLst>
              <a:gd name="adj" fmla="val 7643"/>
            </a:avLst>
          </a:prstGeom>
          <a:solidFill>
            <a:srgbClr val="1A2436"/>
          </a:solidFill>
          <a:ln/>
        </p:spPr>
      </p:sp>
      <p:sp>
        <p:nvSpPr>
          <p:cNvPr id="34" name="Shape 32"/>
          <p:cNvSpPr/>
          <p:nvPr/>
        </p:nvSpPr>
        <p:spPr>
          <a:xfrm>
            <a:off x="9201001" y="5209729"/>
            <a:ext cx="2597200" cy="9525"/>
          </a:xfrm>
          <a:prstGeom prst="rect">
            <a:avLst/>
          </a:prstGeom>
          <a:solidFill>
            <a:srgbClr val="334155">
              <a:alpha val="5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9201001" y="3723829"/>
            <a:ext cx="2597200" cy="2857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Shape 34"/>
          <p:cNvSpPr/>
          <p:nvPr/>
        </p:nvSpPr>
        <p:spPr>
          <a:xfrm>
            <a:off x="9201001" y="3723829"/>
            <a:ext cx="9525" cy="1495425"/>
          </a:xfrm>
          <a:prstGeom prst="rect">
            <a:avLst/>
          </a:prstGeom>
          <a:solidFill>
            <a:srgbClr val="334155">
              <a:alpha val="5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1788676" y="3723829"/>
            <a:ext cx="9525" cy="1495425"/>
          </a:xfrm>
          <a:prstGeom prst="rect">
            <a:avLst/>
          </a:prstGeom>
          <a:solidFill>
            <a:srgbClr val="334155">
              <a:alpha val="5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9381976" y="3961954"/>
            <a:ext cx="24587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9381976" y="4352479"/>
            <a:ext cx="24587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Absorb deps</a:t>
            </a:r>
            <a:endParaRPr lang="en-US" sz="1875" dirty="0"/>
          </a:p>
        </p:txBody>
      </p:sp>
      <p:sp>
        <p:nvSpPr>
          <p:cNvPr id="40" name="Text 38"/>
          <p:cNvSpPr/>
          <p:nvPr/>
        </p:nvSpPr>
        <p:spPr>
          <a:xfrm>
            <a:off x="9381976" y="4723954"/>
            <a:ext cx="24587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Shrink the tree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1912501" y="3723829"/>
            <a:ext cx="2597200" cy="1495425"/>
          </a:xfrm>
          <a:prstGeom prst="roundRect">
            <a:avLst>
              <a:gd name="adj" fmla="val 7643"/>
            </a:avLst>
          </a:prstGeom>
          <a:solidFill>
            <a:srgbClr val="1A2436"/>
          </a:solidFill>
          <a:ln/>
        </p:spPr>
      </p:sp>
      <p:sp>
        <p:nvSpPr>
          <p:cNvPr id="42" name="Shape 40"/>
          <p:cNvSpPr/>
          <p:nvPr/>
        </p:nvSpPr>
        <p:spPr>
          <a:xfrm>
            <a:off x="11912501" y="5209729"/>
            <a:ext cx="2597200" cy="9525"/>
          </a:xfrm>
          <a:prstGeom prst="rect">
            <a:avLst/>
          </a:prstGeom>
          <a:solidFill>
            <a:srgbClr val="334155">
              <a:alpha val="5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1912501" y="3723829"/>
            <a:ext cx="2597200" cy="2857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4" name="Shape 42"/>
          <p:cNvSpPr/>
          <p:nvPr/>
        </p:nvSpPr>
        <p:spPr>
          <a:xfrm>
            <a:off x="11912501" y="3723829"/>
            <a:ext cx="9525" cy="1495425"/>
          </a:xfrm>
          <a:prstGeom prst="rect">
            <a:avLst/>
          </a:prstGeom>
          <a:solidFill>
            <a:srgbClr val="334155">
              <a:alpha val="5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4500175" y="3723829"/>
            <a:ext cx="9525" cy="1495425"/>
          </a:xfrm>
          <a:prstGeom prst="rect">
            <a:avLst/>
          </a:prstGeom>
          <a:solidFill>
            <a:srgbClr val="334155">
              <a:alpha val="5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12093476" y="3961954"/>
            <a:ext cx="24587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12093476" y="4352479"/>
            <a:ext cx="24587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QC</a:t>
            </a:r>
            <a:endParaRPr lang="en-US" sz="1875" dirty="0"/>
          </a:p>
        </p:txBody>
      </p:sp>
      <p:sp>
        <p:nvSpPr>
          <p:cNvPr id="48" name="Text 46"/>
          <p:cNvSpPr/>
          <p:nvPr/>
        </p:nvSpPr>
        <p:spPr>
          <a:xfrm>
            <a:off x="12093476" y="4723954"/>
            <a:ext cx="24587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in sandbox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4624000" y="3723829"/>
            <a:ext cx="2597200" cy="1495425"/>
          </a:xfrm>
          <a:prstGeom prst="roundRect">
            <a:avLst>
              <a:gd name="adj" fmla="val 7643"/>
            </a:avLst>
          </a:prstGeom>
          <a:solidFill>
            <a:srgbClr val="1A2436"/>
          </a:solidFill>
          <a:ln/>
        </p:spPr>
      </p:sp>
      <p:sp>
        <p:nvSpPr>
          <p:cNvPr id="50" name="Shape 48"/>
          <p:cNvSpPr/>
          <p:nvPr/>
        </p:nvSpPr>
        <p:spPr>
          <a:xfrm>
            <a:off x="14624000" y="5209729"/>
            <a:ext cx="2597200" cy="9525"/>
          </a:xfrm>
          <a:prstGeom prst="rect">
            <a:avLst/>
          </a:prstGeom>
          <a:solidFill>
            <a:srgbClr val="334155">
              <a:alpha val="5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4624000" y="3723829"/>
            <a:ext cx="2597200" cy="28575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52" name="Shape 50"/>
          <p:cNvSpPr/>
          <p:nvPr/>
        </p:nvSpPr>
        <p:spPr>
          <a:xfrm>
            <a:off x="14624000" y="3723829"/>
            <a:ext cx="9525" cy="1495425"/>
          </a:xfrm>
          <a:prstGeom prst="rect">
            <a:avLst/>
          </a:prstGeom>
          <a:solidFill>
            <a:srgbClr val="334155">
              <a:alpha val="5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7211675" y="3723829"/>
            <a:ext cx="9525" cy="1495425"/>
          </a:xfrm>
          <a:prstGeom prst="rect">
            <a:avLst/>
          </a:prstGeom>
          <a:solidFill>
            <a:srgbClr val="334155">
              <a:alpha val="5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14804975" y="3961954"/>
            <a:ext cx="24587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14804975" y="4352479"/>
            <a:ext cx="24587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1875" dirty="0"/>
          </a:p>
        </p:txBody>
      </p:sp>
      <p:sp>
        <p:nvSpPr>
          <p:cNvPr id="56" name="Text 54"/>
          <p:cNvSpPr/>
          <p:nvPr/>
        </p:nvSpPr>
        <p:spPr>
          <a:xfrm>
            <a:off x="14804975" y="4723954"/>
            <a:ext cx="24587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1066800" y="5466904"/>
            <a:ext cx="16154400" cy="8001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16341F">
                  <a:alpha val="100000"/>
                </a:srgbClr>
              </a:gs>
              <a:gs pos="100000">
                <a:srgbClr val="1A2436">
                  <a:alpha val="100000"/>
                </a:srgbClr>
              </a:gs>
            </a:gsLst>
            <a:lin ang="4200000" scaled="0"/>
          </a:gradFill>
          <a:ln w="9525">
            <a:solidFill>
              <a:srgbClr val="34D399">
                <a:alpha val="33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381125" y="5719316"/>
            <a:ext cx="11735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DELIVERY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2687985" y="5705029"/>
            <a:ext cx="1170696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verified package plus audit evidence — built in an isolated, disposable workspace.</a:t>
            </a:r>
            <a:endParaRPr lang="en-US" sz="2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41C3F">
                  <a:alpha val="100000"/>
                </a:srgbClr>
              </a:gs>
              <a:gs pos="45000">
                <a:srgbClr val="241C3F">
                  <a:alpha val="0"/>
                </a:srgbClr>
              </a:gs>
            </a:gsLst>
            <a:path path="circle">
              <a:fillToRect l="100000" t="0" r="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066800" y="857250"/>
            <a:ext cx="1776984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504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6800" y="1285875"/>
            <a:ext cx="17769840" cy="771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50" b="1" spc="-111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local control plane</a:t>
            </a:r>
            <a:endParaRPr lang="en-US" sz="5550" dirty="0"/>
          </a:p>
        </p:txBody>
      </p:sp>
      <p:sp>
        <p:nvSpPr>
          <p:cNvPr id="5" name="Shape 3"/>
          <p:cNvSpPr/>
          <p:nvPr/>
        </p:nvSpPr>
        <p:spPr>
          <a:xfrm>
            <a:off x="1066800" y="2457004"/>
            <a:ext cx="9587657" cy="695325"/>
          </a:xfrm>
          <a:prstGeom prst="roundRect">
            <a:avLst>
              <a:gd name="adj" fmla="val 16438"/>
            </a:avLst>
          </a:prstGeom>
          <a:solidFill>
            <a:srgbClr val="1A2436"/>
          </a:solidFill>
          <a:ln w="9525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18260" y="2657029"/>
            <a:ext cx="928473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Control UI · API consumers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5851029" y="3152329"/>
            <a:ext cx="19050" cy="24765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" name="Shape 6"/>
          <p:cNvSpPr/>
          <p:nvPr/>
        </p:nvSpPr>
        <p:spPr>
          <a:xfrm>
            <a:off x="1066800" y="3399979"/>
            <a:ext cx="9587657" cy="695325"/>
          </a:xfrm>
          <a:prstGeom prst="roundRect">
            <a:avLst>
              <a:gd name="adj" fmla="val 16438"/>
            </a:avLst>
          </a:prstGeom>
          <a:gradFill rotWithShape="1">
            <a:gsLst>
              <a:gs pos="0">
                <a:srgbClr val="241C3F">
                  <a:alpha val="100000"/>
                </a:srgbClr>
              </a:gs>
              <a:gs pos="100000">
                <a:srgbClr val="1A2436">
                  <a:alpha val="100000"/>
                </a:srgbClr>
              </a:gs>
            </a:gsLst>
            <a:lin ang="4200000" scaled="0"/>
          </a:gradFill>
          <a:ln w="9525">
            <a:solidFill>
              <a:srgbClr val="8B5CF6">
                <a:alpha val="33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62075" y="3600004"/>
            <a:ext cx="16510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8438852" y="3600004"/>
            <a:ext cx="211236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 · ingress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851029" y="4095304"/>
            <a:ext cx="19050" cy="24765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6800" y="4342954"/>
            <a:ext cx="5418237" cy="695325"/>
          </a:xfrm>
          <a:prstGeom prst="roundRect">
            <a:avLst>
              <a:gd name="adj" fmla="val 16438"/>
            </a:avLst>
          </a:prstGeom>
          <a:gradFill rotWithShape="1">
            <a:gsLst>
              <a:gs pos="0">
                <a:srgbClr val="241C3F">
                  <a:alpha val="100000"/>
                </a:srgbClr>
              </a:gs>
              <a:gs pos="100000">
                <a:srgbClr val="1A2436">
                  <a:alpha val="100000"/>
                </a:srgbClr>
              </a:gs>
            </a:gsLst>
            <a:lin ang="4200000" scaled="0"/>
          </a:gradFill>
          <a:ln w="9525">
            <a:solidFill>
              <a:srgbClr val="8B5CF6">
                <a:alpha val="33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23975" y="4542979"/>
            <a:ext cx="151399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4444752" y="4542979"/>
            <a:ext cx="196142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mission state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637437" y="4342954"/>
            <a:ext cx="4017020" cy="695325"/>
          </a:xfrm>
          <a:prstGeom prst="roundRect">
            <a:avLst>
              <a:gd name="adj" fmla="val 16438"/>
            </a:avLst>
          </a:prstGeom>
          <a:solidFill>
            <a:srgbClr val="1A2436"/>
          </a:solidFill>
          <a:ln w="9525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94612" y="4542979"/>
            <a:ext cx="154444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Bus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437043" y="4542979"/>
            <a:ext cx="10364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routing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851029" y="5038279"/>
            <a:ext cx="19050" cy="24765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66800" y="5285929"/>
            <a:ext cx="9587657" cy="695325"/>
          </a:xfrm>
          <a:prstGeom prst="roundRect">
            <a:avLst>
              <a:gd name="adj" fmla="val 16438"/>
            </a:avLst>
          </a:prstGeom>
          <a:solidFill>
            <a:srgbClr val="1A2436"/>
          </a:solidFill>
          <a:ln w="9525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62075" y="5485954"/>
            <a:ext cx="156949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Workers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8576072" y="5485954"/>
            <a:ext cx="196142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· B · C · D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851029" y="5981254"/>
            <a:ext cx="19050" cy="24765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3" name="Shape 21"/>
          <p:cNvSpPr/>
          <p:nvPr/>
        </p:nvSpPr>
        <p:spPr>
          <a:xfrm>
            <a:off x="1066800" y="6228904"/>
            <a:ext cx="9587657" cy="695325"/>
          </a:xfrm>
          <a:prstGeom prst="roundRect">
            <a:avLst>
              <a:gd name="adj" fmla="val 16438"/>
            </a:avLst>
          </a:prstGeom>
          <a:gradFill rotWithShape="1">
            <a:gsLst>
              <a:gs pos="0">
                <a:srgbClr val="16341F">
                  <a:alpha val="100000"/>
                </a:srgbClr>
              </a:gs>
              <a:gs pos="100000">
                <a:srgbClr val="1A2436">
                  <a:alpha val="100000"/>
                </a:srgbClr>
              </a:gs>
            </a:gsLst>
            <a:lin ang="4200000" scaled="0"/>
          </a:gradFill>
          <a:ln w="9525">
            <a:solidFill>
              <a:srgbClr val="34D399">
                <a:alpha val="33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18260" y="6428929"/>
            <a:ext cx="928473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Worker → verified delivery</a:t>
            </a:r>
            <a:endParaRPr lang="en-US" sz="2025" dirty="0"/>
          </a:p>
        </p:txBody>
      </p:sp>
      <p:sp>
        <p:nvSpPr>
          <p:cNvPr id="25" name="Shape 23"/>
          <p:cNvSpPr/>
          <p:nvPr/>
        </p:nvSpPr>
        <p:spPr>
          <a:xfrm>
            <a:off x="11035457" y="2457004"/>
            <a:ext cx="6185743" cy="2359819"/>
          </a:xfrm>
          <a:prstGeom prst="roundRect">
            <a:avLst>
              <a:gd name="adj" fmla="val 5651"/>
            </a:avLst>
          </a:prstGeom>
          <a:solidFill>
            <a:srgbClr val="1A2436"/>
          </a:solidFill>
          <a:ln w="9525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330732" y="2752279"/>
            <a:ext cx="615471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PLANE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330732" y="3199954"/>
            <a:ext cx="5763049" cy="1359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18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· Redis Vector + graph search Object storage + audit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11035457" y="5026372"/>
            <a:ext cx="6185743" cy="1919288"/>
          </a:xfrm>
          <a:prstGeom prst="roundRect">
            <a:avLst>
              <a:gd name="adj" fmla="val 6948"/>
            </a:avLst>
          </a:prstGeom>
          <a:solidFill>
            <a:srgbClr val="1A2436"/>
          </a:solidFill>
          <a:ln w="9525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330732" y="5321647"/>
            <a:ext cx="615471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OBSERVABILITY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1330732" y="5769322"/>
            <a:ext cx="5763049" cy="919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18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· Grafana Loki · Jaeger OTLP</a:t>
            </a:r>
            <a:endParaRPr lang="en-US" sz="18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F1640">
                  <a:alpha val="100000"/>
                </a:srgbClr>
              </a:gs>
              <a:gs pos="52000">
                <a:srgbClr val="1F1640">
                  <a:alpha val="0"/>
                </a:srgbClr>
              </a:gs>
            </a:gsLst>
            <a:path path="circle">
              <a:fillToRect l="100000" t="100000" r="0" b="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066800" y="857250"/>
            <a:ext cx="1776984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504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ORG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6800" y="1285875"/>
            <a:ext cx="17769840" cy="771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50" b="1" spc="-111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41-agent chain of command</a:t>
            </a:r>
            <a:endParaRPr lang="en-US" sz="5550" dirty="0"/>
          </a:p>
        </p:txBody>
      </p:sp>
      <p:sp>
        <p:nvSpPr>
          <p:cNvPr id="5" name="Shape 3"/>
          <p:cNvSpPr/>
          <p:nvPr/>
        </p:nvSpPr>
        <p:spPr>
          <a:xfrm>
            <a:off x="1066800" y="2557016"/>
            <a:ext cx="14729371" cy="247650"/>
          </a:xfrm>
          <a:prstGeom prst="roundRect">
            <a:avLst>
              <a:gd name="adj" fmla="val 26923"/>
            </a:avLst>
          </a:prstGeom>
          <a:ln w="9525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6325" y="2566541"/>
            <a:ext cx="353020" cy="228600"/>
          </a:xfrm>
          <a:prstGeom prst="rect">
            <a:avLst/>
          </a:prstGeom>
          <a:solidFill>
            <a:srgbClr val="C4B5FD"/>
          </a:solidFill>
          <a:ln/>
        </p:spPr>
      </p:sp>
      <p:sp>
        <p:nvSpPr>
          <p:cNvPr id="7" name="Shape 5"/>
          <p:cNvSpPr/>
          <p:nvPr/>
        </p:nvSpPr>
        <p:spPr>
          <a:xfrm>
            <a:off x="1429345" y="2566541"/>
            <a:ext cx="353020" cy="2286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8" name="Shape 6"/>
          <p:cNvSpPr/>
          <p:nvPr/>
        </p:nvSpPr>
        <p:spPr>
          <a:xfrm>
            <a:off x="1782366" y="2566541"/>
            <a:ext cx="4310063" cy="2286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9" name="Shape 7"/>
          <p:cNvSpPr/>
          <p:nvPr/>
        </p:nvSpPr>
        <p:spPr>
          <a:xfrm>
            <a:off x="6092428" y="2566541"/>
            <a:ext cx="9694069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15986671" y="2533204"/>
            <a:ext cx="135798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 agents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66800" y="3114229"/>
            <a:ext cx="16154400" cy="76200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6800" y="3114229"/>
            <a:ext cx="38100" cy="762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1447800" y="3347591"/>
            <a:ext cx="14668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067050" y="3342829"/>
            <a:ext cx="25146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638800" y="3357116"/>
            <a:ext cx="509419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AGENT-01 PM — mission intake &amp; hand-off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66800" y="4028629"/>
            <a:ext cx="16154400" cy="76200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/>
        </p:spPr>
      </p:sp>
      <p:sp>
        <p:nvSpPr>
          <p:cNvPr id="17" name="Shape 15"/>
          <p:cNvSpPr/>
          <p:nvPr/>
        </p:nvSpPr>
        <p:spPr>
          <a:xfrm>
            <a:off x="1066800" y="4028629"/>
            <a:ext cx="38100" cy="762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1447800" y="4261991"/>
            <a:ext cx="14668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×1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067050" y="4257229"/>
            <a:ext cx="25146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5638800" y="4271516"/>
            <a:ext cx="549888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AGENT-02 CEO — delegates to pod managers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66800" y="4943029"/>
            <a:ext cx="16154400" cy="76200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/>
        </p:spPr>
      </p:sp>
      <p:sp>
        <p:nvSpPr>
          <p:cNvPr id="22" name="Shape 20"/>
          <p:cNvSpPr/>
          <p:nvPr/>
        </p:nvSpPr>
        <p:spPr>
          <a:xfrm>
            <a:off x="1066800" y="4943029"/>
            <a:ext cx="38100" cy="762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1447800" y="5176391"/>
            <a:ext cx="14668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×12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067050" y="5171629"/>
            <a:ext cx="25146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Ring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5638800" y="5185916"/>
            <a:ext cx="993070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Security, Compliance, Tester, Deploy, Dependency-Absorption, Runtime-QC &amp; more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66800" y="5857429"/>
            <a:ext cx="16154400" cy="76200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241C3F">
                  <a:alpha val="100000"/>
                </a:srgbClr>
              </a:gs>
              <a:gs pos="100000">
                <a:srgbClr val="1A2436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27" name="Shape 25"/>
          <p:cNvSpPr/>
          <p:nvPr/>
        </p:nvSpPr>
        <p:spPr>
          <a:xfrm>
            <a:off x="1066800" y="5857429"/>
            <a:ext cx="38100" cy="762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1447800" y="6090791"/>
            <a:ext cx="14668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×27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067050" y="6086029"/>
            <a:ext cx="25146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Pods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5638800" y="6100316"/>
            <a:ext cx="566423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+ audit + language specialists per pod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C2740">
                  <a:alpha val="100000"/>
                </a:srgbClr>
              </a:gs>
              <a:gs pos="52000">
                <a:srgbClr val="1C2740">
                  <a:alpha val="0"/>
                </a:srgbClr>
              </a:gs>
            </a:gsLst>
            <a:path path="circle">
              <a:fillToRect l="50000" t="0" r="5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066800" y="857250"/>
            <a:ext cx="1776984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504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LIFECYCLE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6800" y="1285875"/>
            <a:ext cx="17769840" cy="771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50" b="1" spc="-111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Smelt-Cycle</a:t>
            </a:r>
            <a:endParaRPr lang="en-US" sz="5550" dirty="0"/>
          </a:p>
        </p:txBody>
      </p:sp>
      <p:sp>
        <p:nvSpPr>
          <p:cNvPr id="5" name="Shape 3"/>
          <p:cNvSpPr/>
          <p:nvPr/>
        </p:nvSpPr>
        <p:spPr>
          <a:xfrm>
            <a:off x="1066800" y="2628454"/>
            <a:ext cx="16154400" cy="381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>
                  <a:alpha val="100000"/>
                </a:srgbClr>
              </a:gs>
              <a:gs pos="55000">
                <a:srgbClr val="F59E0B">
                  <a:alpha val="100000"/>
                </a:srgbClr>
              </a:gs>
              <a:gs pos="100000">
                <a:srgbClr val="34D399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6" name="Shape 4"/>
          <p:cNvSpPr/>
          <p:nvPr/>
        </p:nvSpPr>
        <p:spPr>
          <a:xfrm>
            <a:off x="1066800" y="2933254"/>
            <a:ext cx="2193429" cy="3238500"/>
          </a:xfrm>
          <a:prstGeom prst="roundRect">
            <a:avLst>
              <a:gd name="adj" fmla="val 5211"/>
            </a:avLst>
          </a:prstGeom>
          <a:solidFill>
            <a:srgbClr val="1A2436"/>
          </a:solidFill>
          <a:ln/>
        </p:spPr>
      </p:sp>
      <p:sp>
        <p:nvSpPr>
          <p:cNvPr id="7" name="Shape 5"/>
          <p:cNvSpPr/>
          <p:nvPr/>
        </p:nvSpPr>
        <p:spPr>
          <a:xfrm>
            <a:off x="1066800" y="2933254"/>
            <a:ext cx="2193429" cy="28575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" name="Text 6"/>
          <p:cNvSpPr/>
          <p:nvPr/>
        </p:nvSpPr>
        <p:spPr>
          <a:xfrm>
            <a:off x="1276350" y="3285679"/>
            <a:ext cx="195176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76350" y="5552629"/>
            <a:ext cx="195176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3393579" y="2933254"/>
            <a:ext cx="2193578" cy="3238500"/>
          </a:xfrm>
          <a:prstGeom prst="roundRect">
            <a:avLst>
              <a:gd name="adj" fmla="val 5211"/>
            </a:avLst>
          </a:prstGeom>
          <a:solidFill>
            <a:srgbClr val="1A2436"/>
          </a:solidFill>
          <a:ln/>
        </p:spPr>
      </p:sp>
      <p:sp>
        <p:nvSpPr>
          <p:cNvPr id="11" name="Shape 9"/>
          <p:cNvSpPr/>
          <p:nvPr/>
        </p:nvSpPr>
        <p:spPr>
          <a:xfrm>
            <a:off x="3393579" y="2933254"/>
            <a:ext cx="2193578" cy="28575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3603129" y="3285679"/>
            <a:ext cx="195192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03129" y="5552629"/>
            <a:ext cx="195192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Queued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5720507" y="2933254"/>
            <a:ext cx="2193429" cy="3238500"/>
          </a:xfrm>
          <a:prstGeom prst="roundRect">
            <a:avLst>
              <a:gd name="adj" fmla="val 5211"/>
            </a:avLst>
          </a:prstGeom>
          <a:solidFill>
            <a:srgbClr val="1A2436"/>
          </a:solidFill>
          <a:ln/>
        </p:spPr>
      </p:sp>
      <p:sp>
        <p:nvSpPr>
          <p:cNvPr id="15" name="Shape 13"/>
          <p:cNvSpPr/>
          <p:nvPr/>
        </p:nvSpPr>
        <p:spPr>
          <a:xfrm>
            <a:off x="5720507" y="2933254"/>
            <a:ext cx="2193429" cy="28575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5930057" y="3285679"/>
            <a:ext cx="195176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930057" y="5552629"/>
            <a:ext cx="195176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Gating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8047286" y="2933254"/>
            <a:ext cx="2193578" cy="3238500"/>
          </a:xfrm>
          <a:prstGeom prst="roundRect">
            <a:avLst>
              <a:gd name="adj" fmla="val 5211"/>
            </a:avLst>
          </a:prstGeom>
          <a:solidFill>
            <a:srgbClr val="1A2436"/>
          </a:solidFill>
          <a:ln/>
        </p:spPr>
      </p:sp>
      <p:sp>
        <p:nvSpPr>
          <p:cNvPr id="19" name="Shape 17"/>
          <p:cNvSpPr/>
          <p:nvPr/>
        </p:nvSpPr>
        <p:spPr>
          <a:xfrm>
            <a:off x="8047286" y="2933254"/>
            <a:ext cx="2193578" cy="2857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8256836" y="3285679"/>
            <a:ext cx="195192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56836" y="5552629"/>
            <a:ext cx="195192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0374213" y="2933254"/>
            <a:ext cx="2193429" cy="3238500"/>
          </a:xfrm>
          <a:prstGeom prst="roundRect">
            <a:avLst>
              <a:gd name="adj" fmla="val 5211"/>
            </a:avLst>
          </a:prstGeom>
          <a:solidFill>
            <a:srgbClr val="1A2436"/>
          </a:solidFill>
          <a:ln/>
        </p:spPr>
      </p:sp>
      <p:sp>
        <p:nvSpPr>
          <p:cNvPr id="23" name="Shape 21"/>
          <p:cNvSpPr/>
          <p:nvPr/>
        </p:nvSpPr>
        <p:spPr>
          <a:xfrm>
            <a:off x="10374213" y="2933254"/>
            <a:ext cx="2193429" cy="2857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10583763" y="3285679"/>
            <a:ext cx="195176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583763" y="5552629"/>
            <a:ext cx="195176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2700992" y="2933254"/>
            <a:ext cx="2193429" cy="3238500"/>
          </a:xfrm>
          <a:prstGeom prst="roundRect">
            <a:avLst>
              <a:gd name="adj" fmla="val 5211"/>
            </a:avLst>
          </a:prstGeom>
          <a:solidFill>
            <a:srgbClr val="1A2436"/>
          </a:solidFill>
          <a:ln/>
        </p:spPr>
      </p:sp>
      <p:sp>
        <p:nvSpPr>
          <p:cNvPr id="27" name="Shape 25"/>
          <p:cNvSpPr/>
          <p:nvPr/>
        </p:nvSpPr>
        <p:spPr>
          <a:xfrm>
            <a:off x="12700992" y="2933254"/>
            <a:ext cx="2193429" cy="28575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8" name="Text 26"/>
          <p:cNvSpPr/>
          <p:nvPr/>
        </p:nvSpPr>
        <p:spPr>
          <a:xfrm>
            <a:off x="12910542" y="3285679"/>
            <a:ext cx="195176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2910542" y="5552629"/>
            <a:ext cx="195176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15027771" y="2933254"/>
            <a:ext cx="2193429" cy="3238500"/>
          </a:xfrm>
          <a:prstGeom prst="roundRect">
            <a:avLst>
              <a:gd name="adj" fmla="val 5211"/>
            </a:avLst>
          </a:prstGeom>
          <a:gradFill rotWithShape="1">
            <a:gsLst>
              <a:gs pos="0">
                <a:srgbClr val="16341F">
                  <a:alpha val="100000"/>
                </a:srgbClr>
              </a:gs>
              <a:gs pos="100000">
                <a:srgbClr val="1A2436">
                  <a:alpha val="100000"/>
                </a:srgbClr>
              </a:gs>
            </a:gsLst>
            <a:lin ang="4200000" scaled="0"/>
          </a:gradFill>
          <a:ln/>
        </p:spPr>
      </p:sp>
      <p:sp>
        <p:nvSpPr>
          <p:cNvPr id="31" name="Shape 29"/>
          <p:cNvSpPr/>
          <p:nvPr/>
        </p:nvSpPr>
        <p:spPr>
          <a:xfrm>
            <a:off x="15027771" y="2933254"/>
            <a:ext cx="2193429" cy="28575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2" name="Text 30"/>
          <p:cNvSpPr/>
          <p:nvPr/>
        </p:nvSpPr>
        <p:spPr>
          <a:xfrm>
            <a:off x="15237321" y="3285679"/>
            <a:ext cx="195176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5237321" y="5552629"/>
            <a:ext cx="195176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1066800" y="6705154"/>
            <a:ext cx="17769840" cy="446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2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phase emits an event — the mission closes with a full evidence chain, not just a code dump.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E2412">
                  <a:alpha val="100000"/>
                </a:srgbClr>
              </a:gs>
              <a:gs pos="46000">
                <a:srgbClr val="2E2412">
                  <a:alpha val="0"/>
                </a:srgbClr>
              </a:gs>
            </a:gsLst>
            <a:path path="circle">
              <a:fillToRect l="100000" t="0" r="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066800" y="857250"/>
            <a:ext cx="1776984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504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FLOOR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6800" y="1285875"/>
            <a:ext cx="17769840" cy="771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50" b="1" spc="-111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pods, twenty languages</a:t>
            </a:r>
            <a:endParaRPr lang="en-US" sz="5550" dirty="0"/>
          </a:p>
        </p:txBody>
      </p:sp>
      <p:sp>
        <p:nvSpPr>
          <p:cNvPr id="5" name="Shape 3"/>
          <p:cNvSpPr/>
          <p:nvPr/>
        </p:nvSpPr>
        <p:spPr>
          <a:xfrm>
            <a:off x="1066800" y="2533204"/>
            <a:ext cx="3881438" cy="5658296"/>
          </a:xfrm>
          <a:prstGeom prst="roundRect">
            <a:avLst>
              <a:gd name="adj" fmla="val 3926"/>
            </a:avLst>
          </a:prstGeom>
          <a:solidFill>
            <a:srgbClr val="1A2436"/>
          </a:solidFill>
          <a:ln w="9525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2075" y="2904679"/>
            <a:ext cx="361997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 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62075" y="3390454"/>
            <a:ext cx="361997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362075" y="3876229"/>
            <a:ext cx="3389614" cy="1592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JavaScript / TS Ruby PHP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157788" y="2533204"/>
            <a:ext cx="3881438" cy="5658296"/>
          </a:xfrm>
          <a:prstGeom prst="roundRect">
            <a:avLst>
              <a:gd name="adj" fmla="val 3926"/>
            </a:avLst>
          </a:prstGeom>
          <a:solidFill>
            <a:srgbClr val="1A2436"/>
          </a:solidFill>
          <a:ln w="9525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53063" y="2904679"/>
            <a:ext cx="361997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 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53063" y="3390454"/>
            <a:ext cx="361997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5453063" y="3876229"/>
            <a:ext cx="3389614" cy="1592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/ C++ Rust Zig Go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248775" y="2533204"/>
            <a:ext cx="3881438" cy="5658296"/>
          </a:xfrm>
          <a:prstGeom prst="roundRect">
            <a:avLst>
              <a:gd name="adj" fmla="val 3926"/>
            </a:avLst>
          </a:prstGeom>
          <a:solidFill>
            <a:srgbClr val="1A2436"/>
          </a:solidFill>
          <a:ln w="9525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44050" y="2904679"/>
            <a:ext cx="361997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 C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544050" y="3390454"/>
            <a:ext cx="361997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544050" y="3876229"/>
            <a:ext cx="3389614" cy="1592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C# Scala Kotlin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3339763" y="2533204"/>
            <a:ext cx="3881438" cy="5658296"/>
          </a:xfrm>
          <a:prstGeom prst="roundRect">
            <a:avLst>
              <a:gd name="adj" fmla="val 3926"/>
            </a:avLst>
          </a:prstGeom>
          <a:solidFill>
            <a:srgbClr val="1A2436"/>
          </a:solidFill>
          <a:ln w="9525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635038" y="2904679"/>
            <a:ext cx="361997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 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635038" y="3390454"/>
            <a:ext cx="361997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3635038" y="3876229"/>
            <a:ext cx="3389614" cy="1592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MATLAB · R Julia Mathematica Haskell · OCaml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66800" y="8553450"/>
            <a:ext cx="16154400" cy="438150"/>
          </a:xfrm>
          <a:prstGeom prst="roundRect">
            <a:avLst>
              <a:gd name="adj" fmla="val 19565"/>
            </a:avLst>
          </a:prstGeom>
          <a:ln w="9525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76325" y="8562975"/>
            <a:ext cx="4727525" cy="4191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412" y="8562975"/>
            <a:ext cx="486935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DYN 68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803850" y="8562975"/>
            <a:ext cx="3759398" cy="4191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5" name="Text 23"/>
          <p:cNvSpPr/>
          <p:nvPr/>
        </p:nvSpPr>
        <p:spPr>
          <a:xfrm>
            <a:off x="5747459" y="8562975"/>
            <a:ext cx="38721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 54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563249" y="8562975"/>
            <a:ext cx="2436316" cy="419100"/>
          </a:xfrm>
          <a:prstGeom prst="rect">
            <a:avLst/>
          </a:prstGeom>
          <a:solidFill>
            <a:srgbClr val="7E72C9"/>
          </a:solidFill>
          <a:ln/>
        </p:spPr>
      </p:sp>
      <p:sp>
        <p:nvSpPr>
          <p:cNvPr id="27" name="Text 25"/>
          <p:cNvSpPr/>
          <p:nvPr/>
        </p:nvSpPr>
        <p:spPr>
          <a:xfrm>
            <a:off x="9525149" y="8562975"/>
            <a:ext cx="251251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 35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1999565" y="8562975"/>
            <a:ext cx="5211663" cy="4191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11921390" y="8562975"/>
            <a:ext cx="536801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 75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66800" y="9105900"/>
            <a:ext cx="1303712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Language-aware analysis across 20 languages, mapped to structured </a:t>
            </a:r>
            <a:pPr algn="l" indent="0" marL="0">
              <a:buNone/>
            </a:pPr>
            <a:r>
              <a:rPr lang="en-US" sz="1875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LogicNodes </a:t>
            </a:r>
            <a:pPr algn="l" indent="0" marL="0">
              <a:buNone/>
            </a:pPr>
            <a:r>
              <a:rPr lang="en-US" sz="18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any model runs.</a:t>
            </a:r>
            <a:endParaRPr lang="en-US" sz="1875" dirty="0"/>
          </a:p>
        </p:txBody>
      </p:sp>
      <p:sp>
        <p:nvSpPr>
          <p:cNvPr id="31" name="Text 29"/>
          <p:cNvSpPr/>
          <p:nvPr/>
        </p:nvSpPr>
        <p:spPr>
          <a:xfrm>
            <a:off x="15506700" y="9105900"/>
            <a:ext cx="18859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232 patterns</a:t>
            </a:r>
            <a:endParaRPr lang="en-US" sz="18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F1640">
                  <a:alpha val="100000"/>
                </a:srgbClr>
              </a:gs>
              <a:gs pos="55000">
                <a:srgbClr val="0F172A">
                  <a:alpha val="100000"/>
                </a:srgbClr>
              </a:gs>
            </a:gsLst>
            <a:path path="circle">
              <a:fillToRect l="15000" t="50000" r="85000" b="5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066800" y="3249364"/>
            <a:ext cx="1776984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504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IT RUNS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6800" y="3677989"/>
            <a:ext cx="14668500" cy="771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50" b="1" spc="-111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Local-first by design</a:t>
            </a:r>
            <a:endParaRPr lang="en-US" sz="5550" dirty="0"/>
          </a:p>
        </p:txBody>
      </p:sp>
      <p:sp>
        <p:nvSpPr>
          <p:cNvPr id="5" name="Text 3"/>
          <p:cNvSpPr/>
          <p:nvPr/>
        </p:nvSpPr>
        <p:spPr>
          <a:xfrm>
            <a:off x="1066800" y="4868168"/>
            <a:ext cx="13538835" cy="1169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34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</a:t>
            </a:r>
            <a:pPr algn="l" indent="0" marL="0">
              <a:lnSpc>
                <a:spcPct val="128000"/>
              </a:lnSpc>
              <a:buNone/>
            </a:pPr>
            <a:r>
              <a:rPr lang="en-US" sz="34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offline </a:t>
            </a:r>
            <a:pPr algn="l" indent="0" marL="0">
              <a:lnSpc>
                <a:spcPct val="128000"/>
              </a:lnSpc>
              <a:buNone/>
            </a:pPr>
            <a:r>
              <a:rPr lang="en-US" sz="34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with no external platform dependency. Your code, prompts and secrets never leave the machine.</a:t>
            </a:r>
            <a:endParaRPr lang="en-US" sz="3450" dirty="0"/>
          </a:p>
        </p:txBody>
      </p:sp>
      <p:sp>
        <p:nvSpPr>
          <p:cNvPr id="6" name="Shape 4"/>
          <p:cNvSpPr/>
          <p:nvPr/>
        </p:nvSpPr>
        <p:spPr>
          <a:xfrm>
            <a:off x="1066800" y="6456462"/>
            <a:ext cx="1985070" cy="581025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9525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04925" y="6599337"/>
            <a:ext cx="15850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api-gateway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4270" y="6456462"/>
            <a:ext cx="2122289" cy="581025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9525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42395" y="6599337"/>
            <a:ext cx="17222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orchestrator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78959" y="6456462"/>
            <a:ext cx="2122289" cy="581025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9525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17084" y="6599337"/>
            <a:ext cx="17222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protocol-bus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753648" y="6456462"/>
            <a:ext cx="3082379" cy="581025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9525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91773" y="6599337"/>
            <a:ext cx="269860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 &amp; audit workers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988427" y="6456462"/>
            <a:ext cx="2670870" cy="581025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9525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26552" y="6599337"/>
            <a:ext cx="227474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 + Redis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6341F">
                  <a:alpha val="100000"/>
                </a:srgbClr>
              </a:gs>
              <a:gs pos="46000">
                <a:srgbClr val="16341F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066800" y="857250"/>
            <a:ext cx="1776984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504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6800" y="1285875"/>
            <a:ext cx="17769840" cy="771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50" b="1" spc="-111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trust layer</a:t>
            </a:r>
            <a:endParaRPr lang="en-US" sz="5550" dirty="0"/>
          </a:p>
        </p:txBody>
      </p:sp>
      <p:sp>
        <p:nvSpPr>
          <p:cNvPr id="5" name="Shape 3"/>
          <p:cNvSpPr/>
          <p:nvPr/>
        </p:nvSpPr>
        <p:spPr>
          <a:xfrm>
            <a:off x="1066800" y="2457004"/>
            <a:ext cx="5219700" cy="6972746"/>
          </a:xfrm>
          <a:prstGeom prst="roundRect">
            <a:avLst>
              <a:gd name="adj" fmla="val 2920"/>
            </a:avLst>
          </a:prstGeom>
          <a:solidFill>
            <a:srgbClr val="1A2436"/>
          </a:solidFill>
          <a:ln w="9525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38275" y="2904679"/>
            <a:ext cx="49244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VERIFY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38275" y="3409504"/>
            <a:ext cx="492442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worker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38275" y="3971479"/>
            <a:ext cx="4611052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plus a runtime-QC pass and a dedicated audit stage confirm integrity before a mission can complete.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6534150" y="2457004"/>
            <a:ext cx="5219700" cy="6972746"/>
          </a:xfrm>
          <a:prstGeom prst="roundRect">
            <a:avLst>
              <a:gd name="adj" fmla="val 2920"/>
            </a:avLst>
          </a:prstGeom>
          <a:solidFill>
            <a:srgbClr val="1A2436"/>
          </a:solidFill>
          <a:ln w="9525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05625" y="2904679"/>
            <a:ext cx="49244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TRACE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05625" y="3409504"/>
            <a:ext cx="492442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Custody ledger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905625" y="3971479"/>
            <a:ext cx="4611052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traceability ledger records artifacts, sources and chain of custody per run.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2001500" y="2457004"/>
            <a:ext cx="5219700" cy="6972746"/>
          </a:xfrm>
          <a:prstGeom prst="roundRect">
            <a:avLst>
              <a:gd name="adj" fmla="val 2920"/>
            </a:avLst>
          </a:prstGeom>
          <a:solidFill>
            <a:srgbClr val="1A2436"/>
          </a:solidFill>
          <a:ln w="9525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72975" y="2904679"/>
            <a:ext cx="49244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GATE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72975" y="3409504"/>
            <a:ext cx="492442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gates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2372975" y="3971479"/>
            <a:ext cx="4611052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22/22 production audit, 80%+ coverage, and SAST / SCA / secret scans in CI.</a:t>
            </a:r>
            <a:endParaRPr lang="en-US" sz="18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C2740">
                  <a:alpha val="100000"/>
                </a:srgbClr>
              </a:gs>
              <a:gs pos="52000">
                <a:srgbClr val="1C2740">
                  <a:alpha val="0"/>
                </a:srgbClr>
              </a:gs>
            </a:gsLst>
            <a:path path="circle">
              <a:fillToRect l="0" t="100000" r="100000" b="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066800" y="857250"/>
            <a:ext cx="1776984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504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PROD-GRADE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6800" y="1285875"/>
            <a:ext cx="17769840" cy="771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50" b="1" spc="-111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to production standards</a:t>
            </a:r>
            <a:endParaRPr lang="en-US" sz="5550" dirty="0"/>
          </a:p>
        </p:txBody>
      </p:sp>
      <p:sp>
        <p:nvSpPr>
          <p:cNvPr id="5" name="Text 3"/>
          <p:cNvSpPr/>
          <p:nvPr/>
        </p:nvSpPr>
        <p:spPr>
          <a:xfrm>
            <a:off x="1066800" y="2457004"/>
            <a:ext cx="57416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OBSERVABILITY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6800" y="2923729"/>
            <a:ext cx="5376291" cy="1821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Grafana Loki + Promtail Jaeger OTLP traces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6534150" y="2457004"/>
            <a:ext cx="9525" cy="6170861"/>
          </a:xfrm>
          <a:prstGeom prst="rect">
            <a:avLst/>
          </a:prstGeom>
          <a:solidFill>
            <a:srgbClr val="334155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810375" y="2457004"/>
            <a:ext cx="54378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10375" y="2923729"/>
            <a:ext cx="5091779" cy="1821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Dual-mode auth RBAC + per-role keys SBOM generation Bandit / Trivy / gitleaks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2001500" y="2457004"/>
            <a:ext cx="9525" cy="6170861"/>
          </a:xfrm>
          <a:prstGeom prst="rect">
            <a:avLst/>
          </a:prstGeom>
          <a:solidFill>
            <a:srgbClr val="334155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2277725" y="2457004"/>
            <a:ext cx="54378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QUALITY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277725" y="2923729"/>
            <a:ext cx="5091779" cy="1821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80%+ coverage Playwright E2E 22/22 prod audit Signed release attestation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66800" y="9046964"/>
            <a:ext cx="17769840" cy="420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2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change runs these gates in CI — the same controls a shipped product carries.</a:t>
            </a:r>
            <a:endParaRPr lang="en-US" sz="2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E2412">
                  <a:alpha val="100000"/>
                </a:srgbClr>
              </a:gs>
              <a:gs pos="50000">
                <a:srgbClr val="2E2412">
                  <a:alpha val="0"/>
                </a:srgbClr>
              </a:gs>
            </a:gsLst>
            <a:path path="circle">
              <a:fillToRect l="100000" t="100000" r="0" b="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066800" y="857250"/>
            <a:ext cx="1776984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504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6800" y="1285875"/>
            <a:ext cx="17769840" cy="771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50" b="1" spc="-111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stands today</a:t>
            </a:r>
            <a:endParaRPr lang="en-US" sz="5550" dirty="0"/>
          </a:p>
        </p:txBody>
      </p:sp>
      <p:sp>
        <p:nvSpPr>
          <p:cNvPr id="5" name="Shape 3"/>
          <p:cNvSpPr/>
          <p:nvPr/>
        </p:nvSpPr>
        <p:spPr>
          <a:xfrm>
            <a:off x="1066800" y="2457004"/>
            <a:ext cx="5219700" cy="6208961"/>
          </a:xfrm>
          <a:prstGeom prst="roundRect">
            <a:avLst>
              <a:gd name="adj" fmla="val 2920"/>
            </a:avLst>
          </a:prstGeom>
          <a:solidFill>
            <a:srgbClr val="1A2436"/>
          </a:solidFill>
          <a:ln w="9525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00175" y="2928491"/>
            <a:ext cx="133350" cy="13335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7" name="Text 5"/>
          <p:cNvSpPr/>
          <p:nvPr/>
        </p:nvSpPr>
        <p:spPr>
          <a:xfrm>
            <a:off x="1666875" y="2847529"/>
            <a:ext cx="165970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WORKING NOW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00175" y="3333304"/>
            <a:ext cx="4689539" cy="1721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 + 41-agent registry Language extraction engine Mission Control UI Observability + security baseline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6534150" y="2457004"/>
            <a:ext cx="5219700" cy="6208961"/>
          </a:xfrm>
          <a:prstGeom prst="roundRect">
            <a:avLst>
              <a:gd name="adj" fmla="val 2920"/>
            </a:avLst>
          </a:prstGeom>
          <a:solidFill>
            <a:srgbClr val="1A2436"/>
          </a:solidFill>
          <a:ln w="9525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67525" y="2928491"/>
            <a:ext cx="133350" cy="13335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7134225" y="2847529"/>
            <a:ext cx="196142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VALIDATION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67525" y="3333304"/>
            <a:ext cx="4689539" cy="1721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chat → COMPLETE with real artifacts Provider / key preflight AST extractors behind flags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2001500" y="2457004"/>
            <a:ext cx="5219700" cy="6208961"/>
          </a:xfrm>
          <a:prstGeom prst="roundRect">
            <a:avLst>
              <a:gd name="adj" fmla="val 2920"/>
            </a:avLst>
          </a:prstGeom>
          <a:solidFill>
            <a:srgbClr val="1A2436"/>
          </a:solidFill>
          <a:ln w="9525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334875" y="2928491"/>
            <a:ext cx="133350" cy="13335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12601575" y="2847529"/>
            <a:ext cx="62492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34875" y="3333304"/>
            <a:ext cx="4689539" cy="1300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Production-host hardening Key rotation + release governance Dedicated per-agent topology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066800" y="9046964"/>
            <a:ext cx="17769840" cy="420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2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large implemented baseline in active local development — not yet a production-ready claim.</a:t>
            </a:r>
            <a:endParaRPr lang="en-US" sz="2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C2740">
                  <a:alpha val="100000"/>
                </a:srgbClr>
              </a:gs>
              <a:gs pos="55000">
                <a:srgbClr val="0F172A">
                  <a:alpha val="100000"/>
                </a:srgbClr>
              </a:gs>
            </a:gsLst>
            <a:path path="circle">
              <a:fillToRect l="82000" t="82000" r="18000" b="18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066800" y="857250"/>
            <a:ext cx="1776984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504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BOTTOM LINE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6800" y="3539133"/>
            <a:ext cx="15716250" cy="8701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300" b="1" spc="-126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coding as an industrial process</a:t>
            </a:r>
            <a:endParaRPr lang="en-US" sz="6300" dirty="0"/>
          </a:p>
        </p:txBody>
      </p:sp>
      <p:sp>
        <p:nvSpPr>
          <p:cNvPr id="5" name="Text 3"/>
          <p:cNvSpPr/>
          <p:nvPr/>
        </p:nvSpPr>
        <p:spPr>
          <a:xfrm>
            <a:off x="1066800" y="4714131"/>
            <a:ext cx="12950190" cy="1109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3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agents. A verifiable mission lifecycle. Full local control. That's what separates a refinery from a single improviser.</a:t>
            </a:r>
            <a:endParaRPr lang="en-US" sz="3150" dirty="0"/>
          </a:p>
        </p:txBody>
      </p:sp>
      <p:sp>
        <p:nvSpPr>
          <p:cNvPr id="6" name="Shape 4"/>
          <p:cNvSpPr/>
          <p:nvPr/>
        </p:nvSpPr>
        <p:spPr>
          <a:xfrm>
            <a:off x="1066800" y="6128891"/>
            <a:ext cx="3356670" cy="581025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9525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04925" y="6271766"/>
            <a:ext cx="29811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a mission locally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5870" y="6128891"/>
            <a:ext cx="2259360" cy="581025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9525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13995" y="6271766"/>
            <a:ext cx="18593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the docs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987629" y="6128891"/>
            <a:ext cx="3893790" cy="581025"/>
          </a:xfrm>
          <a:prstGeom prst="roundRect">
            <a:avLst>
              <a:gd name="adj" fmla="val 50000"/>
            </a:avLst>
          </a:prstGeom>
          <a:solidFill>
            <a:srgbClr val="8B5CF6">
              <a:alpha val="12000"/>
            </a:srgbClr>
          </a:solidFill>
          <a:ln w="9525">
            <a:solidFill>
              <a:srgbClr val="8B5CF6">
                <a:alpha val="53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5754" y="6271766"/>
            <a:ext cx="353435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Become a design partner 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66800" y="9134475"/>
            <a:ext cx="512988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github.com/kherrera6219/theFactory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203561" y="9134475"/>
            <a:ext cx="331940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HolyGrail · theFactory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2026-06-26T23:00:55Z</dcterms:created>
  <dcterms:modified xsi:type="dcterms:W3CDTF">2026-06-26T23:00:55Z</dcterms:modified>
</cp:coreProperties>
</file>